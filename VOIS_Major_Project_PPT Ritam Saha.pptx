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7"/>
  </p:notesMasterIdLst>
  <p:handoutMasterIdLst>
    <p:handoutMasterId r:id="rId2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41" r:id="rId23"/>
    <p:sldId id="342" r:id="rId24"/>
    <p:sldId id="343" r:id="rId25"/>
    <p:sldId id="30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tam-5/Seasonal-Agriculture-Performance-Insight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793472"/>
            <a:ext cx="9772590" cy="1758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Name- Ritam Saha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Name- Institute of Engineering &amp; Management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STU6970f746c5c821769011014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76798"/>
            <a:ext cx="10175545" cy="999462"/>
          </a:xfrm>
        </p:spPr>
        <p:txBody>
          <a:bodyPr>
            <a:no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-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Seasonal-Agriculture-Performance-Insights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102230"/>
            <a:ext cx="6949204" cy="36079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performance is shaped by seasonal variation in environmental conditions, farming practices, resource availability, and market forces — but raw agricultural data on its own doesn't reveal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changes across seasons or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drive those differences. The problem this project addresses is: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seasonal agricultural data to uncover meaningful patterns, trends, relationships, and variations in performance across seasons (Kharif, Rabi, Zaid)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going beyond simple seasonal averages to understand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differs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actionable levers exist for each season.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939611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0DA8F5-16B8-0304-0781-6783F289CD7B}"/>
              </a:ext>
            </a:extLst>
          </p:cNvPr>
          <p:cNvSpPr txBox="1"/>
          <p:nvPr/>
        </p:nvSpPr>
        <p:spPr>
          <a:xfrm>
            <a:off x="821094" y="1953984"/>
            <a:ext cx="842554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data analytics study of 4,000 farm-level records spanning three growing seasons, covering environmental conditions (rainfall, temperature, soil moisture/pH), resource usage (water, fertilizer, pesticide, irrigation method), and economic outcomes (yield, revenue, cost, profit). Rather than a generic "compare means by season" exercise, it builds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Farm Performance 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discover natural farm archetypes, runs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season-specific driver regressions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whether the same input matters differently in different seasons, computes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profitability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(consistency, not just averages), benchmarks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vs. bottom decile farms within each season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flags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anomalies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Isolation Forest. The output is a fully documented, reproducible Google Colab with visualizations, statistical validation (ANOVA, Pearson correlation), and evidence-based recommendations for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609253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agriculture departments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evidence-based seasonal planning, subsidy targeting, and extension program design.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 &amp; advisors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 give farmers season-specific, data-backed input recommendations rather than generic advice.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farmer cooperatives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 benchmark their own practices against top-performing peers in the same season and region.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Agri-tech companies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-fintech (crop insurance, input suppliers)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 identify high-risk seasons/regions and design better products (insurance pricing, targeted fertilizer/seed marketing).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students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 a case study in applied seasonal/agricultural data analytics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52839" y="1315059"/>
            <a:ext cx="9027702" cy="5243448"/>
          </a:xfrm>
        </p:spPr>
        <p:txBody>
          <a:bodyPr/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Seaborn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SciPy (ANOVA, Pearson correlation)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—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K-Means clustering, Isolation Forest, Linear Regression)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&amp; GitHub</a:t>
            </a:r>
          </a:p>
          <a:p>
            <a:pPr lvl="1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10593-D221-2531-C85F-3B2405C2C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7"/>
            <a:ext cx="10840085" cy="53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07FE1B-0457-79C7-40BC-ABD57B42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624"/>
          <a:stretch>
            <a:fillRect/>
          </a:stretch>
        </p:blipFill>
        <p:spPr>
          <a:xfrm>
            <a:off x="704383" y="1275370"/>
            <a:ext cx="4138205" cy="4828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556574-6FA4-9A99-3919-590BE1D84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367"/>
          <a:stretch>
            <a:fillRect/>
          </a:stretch>
        </p:blipFill>
        <p:spPr>
          <a:xfrm>
            <a:off x="4966365" y="1275370"/>
            <a:ext cx="6904653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BE53F2-C4EE-9FFA-E89B-A1A065D9B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356"/>
          <a:stretch>
            <a:fillRect/>
          </a:stretch>
        </p:blipFill>
        <p:spPr>
          <a:xfrm>
            <a:off x="675957" y="1611277"/>
            <a:ext cx="4345694" cy="48606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76E015-DB15-B090-B9D6-C6D3E28038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398"/>
          <a:stretch>
            <a:fillRect/>
          </a:stretch>
        </p:blipFill>
        <p:spPr>
          <a:xfrm>
            <a:off x="5299788" y="1608410"/>
            <a:ext cx="5803641" cy="477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01FE8D-012B-4139-3944-88D4A4A92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12841"/>
            <a:ext cx="10963469" cy="423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F3CE3C-1544-3AF0-0B86-224E1DBF9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010"/>
          <a:stretch>
            <a:fillRect/>
          </a:stretch>
        </p:blipFill>
        <p:spPr>
          <a:xfrm>
            <a:off x="144112" y="1261375"/>
            <a:ext cx="5053039" cy="4826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9C0EA1-BD59-F85E-C794-5B37CC9F8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021" y="1275371"/>
            <a:ext cx="6608689" cy="471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F3EBA-9F14-1C86-2AC6-EBBC71BA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512A81-F6DC-6B6D-0A72-743FFAB4A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80B00F7-9BCD-9584-53C0-418874E4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FE44BDE-FD3B-9771-FEA9-EC7DF22D856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6F69F3D-A4BE-7B5D-323B-0FC21B3C7E8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614B18-7EF5-3687-C0C5-7274F177C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31"/>
          <a:stretch>
            <a:fillRect/>
          </a:stretch>
        </p:blipFill>
        <p:spPr>
          <a:xfrm>
            <a:off x="134369" y="1275371"/>
            <a:ext cx="6490365" cy="4851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DEE83E-5404-E839-738A-B0490B40E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734" y="1275371"/>
            <a:ext cx="5432897" cy="370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5975-1325-1E37-4DFF-73AE7B41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EE53A4-558B-0067-D670-543C3923B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190AE86-08D9-DDCE-0EE1-A52E55D7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82FCFB0-6A5E-FE8C-E678-D515729327F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540829A-CC30-9D25-B7AD-27AAFFB8E12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4ED33A-B646-873B-B780-8BC45D2AF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633"/>
          <a:stretch>
            <a:fillRect/>
          </a:stretch>
        </p:blipFill>
        <p:spPr>
          <a:xfrm>
            <a:off x="199053" y="1201586"/>
            <a:ext cx="5896947" cy="48352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85D413-64B8-0E38-C474-C0996FBEC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201586"/>
            <a:ext cx="5896947" cy="28329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3D619C-D18A-EEB1-5561-167DA1142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00"/>
          <a:stretch>
            <a:fillRect/>
          </a:stretch>
        </p:blipFill>
        <p:spPr>
          <a:xfrm>
            <a:off x="6214188" y="4108297"/>
            <a:ext cx="5778758" cy="25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6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CE28-397B-433D-6D0F-783BB776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5F198C-F72C-BBB6-4F60-F1FF3CD66B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C17DBD-8787-3D2B-B7DA-23C572CC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67F48F3-6B33-B104-9902-354619EF963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2A600EB-6CE9-FF84-FF66-340A1BA8C6C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93D3D5-FC5F-E732-CB83-8A184F7C7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495"/>
          <a:stretch>
            <a:fillRect/>
          </a:stretch>
        </p:blipFill>
        <p:spPr>
          <a:xfrm>
            <a:off x="253638" y="1305380"/>
            <a:ext cx="5763836" cy="1419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65D99C-1C4F-F1CA-BD47-FC37284BB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38" y="2826420"/>
            <a:ext cx="5775018" cy="37420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815C82-1138-DC3B-922A-345616AE3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28" y="1305380"/>
            <a:ext cx="5861625" cy="479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0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0A3FB-5A81-0FBB-0348-C91D7114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5F564-74EF-4679-AD63-69375769F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2F451B-35D8-431A-7AC9-BE93625E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671F23-820F-22ED-A6DE-E13DA0544D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A0BD1F2-793A-6919-5C3A-2A5F8C8B5DC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004C3C-2CE5-5F1A-370A-2E101AE97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37"/>
          <a:stretch>
            <a:fillRect/>
          </a:stretch>
        </p:blipFill>
        <p:spPr>
          <a:xfrm>
            <a:off x="2672296" y="1275371"/>
            <a:ext cx="6176865" cy="1786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62BDFB-4A13-5763-F937-F166A2EDC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123" y="3245507"/>
            <a:ext cx="9867753" cy="30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9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FB10-48EC-516E-A17D-E5AEE6D5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EF4FE5-9F65-02BF-594D-92E7432761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21863D7-1A03-FDFE-5D96-19C439EF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EBB261E-4691-6C03-3D3B-751BC4958EA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EE74564-8B6D-AEC6-B6DC-DA30510BCF6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5CA41-C022-06B5-CBD3-D9E6F5E4F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122"/>
          <a:stretch>
            <a:fillRect/>
          </a:stretch>
        </p:blipFill>
        <p:spPr>
          <a:xfrm>
            <a:off x="320982" y="1201586"/>
            <a:ext cx="6568751" cy="3819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05F639-6A5C-6763-EB94-596AB32C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360" y="1201586"/>
            <a:ext cx="5059138" cy="38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8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90F0-8966-2F60-2E28-08667417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601D33-E3FA-03D6-0277-BF2299154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758749-5A1C-AF04-3556-1C3363AF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CA7EDAE-6BB1-8AA0-1BA6-C2B839F5D83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EE0813B-3FFF-1194-AA47-C9D7039670D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B91A9-1AC0-BF29-4CB0-52337360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60"/>
          <a:stretch>
            <a:fillRect/>
          </a:stretch>
        </p:blipFill>
        <p:spPr>
          <a:xfrm>
            <a:off x="177282" y="1201586"/>
            <a:ext cx="6186196" cy="3588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1321D-07A4-0462-9C67-7CEA59DEC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67" y="1201586"/>
            <a:ext cx="5292851" cy="395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5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D2A9-2594-35EE-E716-F6A41ACF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1C125A-4FC4-E64B-50BA-2D6B9283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7226A6-E007-9F0B-E868-65064789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86D5EC2-FFA8-F0D8-0EA9-32513057FA8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8D9663E-D9B6-172E-ACF2-E6BDD39695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46802F-D491-5856-02F3-9E67338D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046"/>
          <a:stretch>
            <a:fillRect/>
          </a:stretch>
        </p:blipFill>
        <p:spPr>
          <a:xfrm>
            <a:off x="139959" y="1201586"/>
            <a:ext cx="6578082" cy="4810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5053D8-E5A7-7386-E446-1905191E73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48" r="63189"/>
          <a:stretch>
            <a:fillRect/>
          </a:stretch>
        </p:blipFill>
        <p:spPr>
          <a:xfrm>
            <a:off x="6688536" y="2120841"/>
            <a:ext cx="5363505" cy="26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8BD3-1863-5390-FB60-38A93CA8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95C0C3-9728-5BC7-FA02-64F527EA79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4E0257-20C2-E1D2-EC01-791353C1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4437C4E-0A93-7EFD-C96E-65A5033444F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CF51676-E46F-8E3C-8407-E15F0E6DBAB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4055D-ED7B-B8C2-3407-0149CF155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7" y="1188715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8972308" cy="49201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build regression/ML models (Random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 or profit ahead of a season using weather forecasts and planned inputs, rather than only explaining past outcomes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expansion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extend beyond seasonal snapshots to multi-year trend analysis to detect long-term climate-driven shifts in seasonal performance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integrate GIS/satellite data (soil maps, NDVI vegetation indices) for finer-grained regional recommendations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deploy findings as an interactive dashboard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/Power BI/Tableau) for extension officers or farmers to query live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API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pull live/forecast weather data to make the season-specific driver insights dynamically actionable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Crop-recommendation engine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extend the clustering/archetype work into a recommender system suggesting optimal crop-season-region combinations for a given farm profile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1645929" y="2762922"/>
            <a:ext cx="8384479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53854-E82A-9F90-1694-4B806AA2C925}"/>
              </a:ext>
            </a:extLst>
          </p:cNvPr>
          <p:cNvSpPr txBox="1"/>
          <p:nvPr/>
        </p:nvSpPr>
        <p:spPr>
          <a:xfrm>
            <a:off x="954579" y="1881330"/>
            <a:ext cx="87865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Bookman Old Style" panose="02050604050505020204" pitchFamily="18" charset="0"/>
              </a:rPr>
              <a:t>GitHub Repository Link- </a:t>
            </a:r>
          </a:p>
          <a:p>
            <a:r>
              <a:rPr lang="en-GB" sz="2400" dirty="0">
                <a:hlinkClick r:id="rId3"/>
              </a:rPr>
              <a:t>https://github.com/ritam-5/Seasonal-Agriculture-Performance-Insights.git</a:t>
            </a:r>
            <a:endParaRPr lang="en-GB" sz="2400" dirty="0"/>
          </a:p>
          <a:p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AD68E-5BBA-E0AF-9FC1-7C3765C4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260" y="1377401"/>
            <a:ext cx="7196427" cy="511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493056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696</TotalTime>
  <Words>623</Words>
  <Application>Microsoft Office PowerPoint</Application>
  <PresentationFormat>Widescreen</PresentationFormat>
  <Paragraphs>50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Bookman Old Style</vt:lpstr>
      <vt:lpstr>Calibri</vt:lpstr>
      <vt:lpstr>Times New Roman</vt:lpstr>
      <vt:lpstr>Trebuchet MS</vt:lpstr>
      <vt:lpstr>Wingdings</vt:lpstr>
      <vt:lpstr>Wingdings 3</vt:lpstr>
      <vt:lpstr>Facet</vt:lpstr>
      <vt:lpstr>Project Title - Seasonal-Agriculture-Performance-Insights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Ritam Saha</dc:creator>
  <cp:lastModifiedBy>Ritam Saha</cp:lastModifiedBy>
  <cp:revision>98</cp:revision>
  <dcterms:created xsi:type="dcterms:W3CDTF">2021-07-11T13:13:15Z</dcterms:created>
  <dcterms:modified xsi:type="dcterms:W3CDTF">2026-09-10T13:41:01Z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